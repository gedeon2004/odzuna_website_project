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5" r:id="rId1"/>
  </p:sldMasterIdLst>
  <p:notesMasterIdLst>
    <p:notesMasterId r:id="rId17"/>
  </p:notesMasterIdLst>
  <p:sldIdLst>
    <p:sldId id="256" r:id="rId2"/>
    <p:sldId id="257" r:id="rId3"/>
    <p:sldId id="268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B120E-4159-470B-ABC6-1539655C5D67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91F2F-28E0-413C-AC07-A0C60E22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4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91F2F-28E0-413C-AC07-A0C60E223F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966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91F2F-28E0-413C-AC07-A0C60E223F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35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91F2F-28E0-413C-AC07-A0C60E223F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9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4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2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62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6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47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45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36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0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1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8281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69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3686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66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42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6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8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  <p:sldLayoutId id="2147483930" r:id="rId15"/>
    <p:sldLayoutId id="214748393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audio" Target="../media/audio1.wav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Plan d'affaires - </a:t>
            </a:r>
            <a:r>
              <a:rPr dirty="0" err="1"/>
              <a:t>Odzuna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92658"/>
            <a:ext cx="8915399" cy="1126283"/>
          </a:xfrm>
        </p:spPr>
        <p:txBody>
          <a:bodyPr/>
          <a:lstStyle/>
          <a:p>
            <a:r>
              <a:rPr b="1" dirty="0" err="1"/>
              <a:t>Odzuna</a:t>
            </a:r>
            <a:r>
              <a:rPr b="1" dirty="0"/>
              <a:t> </a:t>
            </a:r>
            <a:r>
              <a:rPr lang="en-US" b="1" dirty="0" err="1"/>
              <a:t>quto</a:t>
            </a:r>
            <a:r>
              <a:rPr lang="en-US" b="1" dirty="0"/>
              <a:t>-s</a:t>
            </a:r>
            <a:r>
              <a:rPr b="1" dirty="0"/>
              <a:t>ervices &amp; </a:t>
            </a:r>
            <a:r>
              <a:rPr b="1" dirty="0" err="1"/>
              <a:t>Odzuna</a:t>
            </a:r>
            <a:r>
              <a:rPr b="1" dirty="0"/>
              <a:t> Travel</a:t>
            </a:r>
          </a:p>
          <a:p>
            <a:r>
              <a:rPr dirty="0" err="1"/>
              <a:t>Votre</a:t>
            </a:r>
            <a:r>
              <a:rPr dirty="0"/>
              <a:t> </a:t>
            </a:r>
            <a:r>
              <a:rPr dirty="0" err="1"/>
              <a:t>passerelle</a:t>
            </a:r>
            <a:r>
              <a:rPr dirty="0"/>
              <a:t> </a:t>
            </a:r>
            <a:r>
              <a:rPr lang="en-US" dirty="0" err="1"/>
              <a:t>vers</a:t>
            </a:r>
            <a:r>
              <a:rPr dirty="0"/>
              <a:t> le monde</a:t>
            </a:r>
          </a:p>
        </p:txBody>
      </p:sp>
      <p:pic>
        <p:nvPicPr>
          <p:cNvPr id="5" name="Picture 4" descr="A logo for a car service&#10;&#10;AI-generated content may be incorrect.">
            <a:extLst>
              <a:ext uri="{FF2B5EF4-FFF2-40B4-BE49-F238E27FC236}">
                <a16:creationId xmlns:a16="http://schemas.microsoft.com/office/drawing/2014/main" id="{A911B805-BDEE-1E7A-080F-DF53A337B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569" y="4653785"/>
            <a:ext cx="3851881" cy="2567921"/>
          </a:xfrm>
          <a:prstGeom prst="rect">
            <a:avLst/>
          </a:prstGeom>
        </p:spPr>
      </p:pic>
      <p:pic>
        <p:nvPicPr>
          <p:cNvPr id="7" name="Picture 6" descr="A logo with a plane flying around the globe&#10;&#10;AI-generated content may be incorrect.">
            <a:extLst>
              <a:ext uri="{FF2B5EF4-FFF2-40B4-BE49-F238E27FC236}">
                <a16:creationId xmlns:a16="http://schemas.microsoft.com/office/drawing/2014/main" id="{E3A840AD-68AC-176D-3721-1215184EC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7577"/>
            <a:ext cx="2589213" cy="25892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airplane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de </a:t>
            </a:r>
            <a:r>
              <a:rPr lang="en-US" dirty="0" err="1"/>
              <a:t>présentation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3613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Résumé </a:t>
            </a:r>
            <a:r>
              <a:rPr lang="en-US" dirty="0" err="1"/>
              <a:t>exécutif</a:t>
            </a:r>
            <a:endParaRPr dirty="0"/>
          </a:p>
          <a:p>
            <a:r>
              <a:rPr lang="en-US" dirty="0" err="1"/>
              <a:t>Présentation</a:t>
            </a:r>
            <a:r>
              <a:rPr lang="en-US" dirty="0"/>
              <a:t> de ODZUNA</a:t>
            </a:r>
            <a:endParaRPr dirty="0"/>
          </a:p>
          <a:p>
            <a:r>
              <a:rPr lang="en-US" dirty="0"/>
              <a:t>Objectif</a:t>
            </a:r>
          </a:p>
          <a:p>
            <a:r>
              <a:rPr lang="en-US" dirty="0" err="1"/>
              <a:t>Analyse</a:t>
            </a:r>
            <a:r>
              <a:rPr lang="en-US" dirty="0"/>
              <a:t> du </a:t>
            </a:r>
            <a:r>
              <a:rPr lang="en-US" dirty="0" err="1"/>
              <a:t>marché</a:t>
            </a:r>
            <a:endParaRPr lang="en-US" dirty="0"/>
          </a:p>
          <a:p>
            <a:r>
              <a:rPr lang="en-US" dirty="0" err="1"/>
              <a:t>Stratégie</a:t>
            </a:r>
            <a:r>
              <a:rPr lang="en-US" dirty="0"/>
              <a:t> de </a:t>
            </a:r>
            <a:r>
              <a:rPr lang="en-US" dirty="0" err="1"/>
              <a:t>développement</a:t>
            </a:r>
            <a:endParaRPr lang="en-US" dirty="0"/>
          </a:p>
          <a:p>
            <a:r>
              <a:rPr lang="en-US" dirty="0"/>
              <a:t>Structure</a:t>
            </a:r>
          </a:p>
          <a:p>
            <a:r>
              <a:rPr lang="en-US" dirty="0"/>
              <a:t>Aspects techniques</a:t>
            </a:r>
          </a:p>
          <a:p>
            <a:r>
              <a:rPr lang="en-US" dirty="0"/>
              <a:t>Design et Branding</a:t>
            </a:r>
          </a:p>
          <a:p>
            <a:r>
              <a:rPr lang="en-US" dirty="0" err="1"/>
              <a:t>Cout</a:t>
            </a:r>
            <a:r>
              <a:rPr lang="en-US" dirty="0"/>
              <a:t> </a:t>
            </a:r>
            <a:r>
              <a:rPr lang="en-US" dirty="0" err="1"/>
              <a:t>estimatif</a:t>
            </a:r>
            <a:endParaRPr lang="en-US" dirty="0"/>
          </a:p>
          <a:p>
            <a:r>
              <a:rPr lang="en-US" dirty="0" err="1"/>
              <a:t>Délai</a:t>
            </a:r>
            <a:r>
              <a:rPr lang="en-US" dirty="0"/>
              <a:t> de realization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Résumé </a:t>
            </a:r>
            <a:r>
              <a:rPr lang="en-US" dirty="0" err="1"/>
              <a:t>exécutif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006222"/>
          </a:xfrm>
        </p:spPr>
        <p:txBody>
          <a:bodyPr/>
          <a:lstStyle/>
          <a:p>
            <a:r>
              <a:rPr lang="en-US" dirty="0"/>
              <a:t>Nom de </a:t>
            </a:r>
            <a:r>
              <a:rPr lang="en-US" dirty="0" err="1"/>
              <a:t>l’Entreprise</a:t>
            </a:r>
            <a:r>
              <a:rPr lang="en-US" dirty="0"/>
              <a:t> </a:t>
            </a:r>
            <a:r>
              <a:rPr dirty="0"/>
              <a:t>:</a:t>
            </a:r>
            <a:r>
              <a:rPr lang="en-US" dirty="0"/>
              <a:t> </a:t>
            </a:r>
            <a:r>
              <a:rPr lang="en-US" b="1" dirty="0"/>
              <a:t>ODZUNA.</a:t>
            </a:r>
            <a:endParaRPr b="1" dirty="0"/>
          </a:p>
          <a:p>
            <a:r>
              <a:rPr lang="en-US" dirty="0" err="1"/>
              <a:t>Localisation</a:t>
            </a:r>
            <a:r>
              <a:rPr lang="en-US" dirty="0"/>
              <a:t> : Lomé, TOGO</a:t>
            </a:r>
            <a:r>
              <a:rPr dirty="0"/>
              <a:t>.</a:t>
            </a:r>
          </a:p>
          <a:p>
            <a:r>
              <a:rPr lang="en-US" dirty="0" err="1"/>
              <a:t>Secteur</a:t>
            </a:r>
            <a:r>
              <a:rPr lang="en-US" dirty="0"/>
              <a:t> </a:t>
            </a:r>
            <a:r>
              <a:rPr lang="en-US" dirty="0" err="1"/>
              <a:t>d’Activité</a:t>
            </a:r>
            <a:r>
              <a:rPr lang="en-US" dirty="0"/>
              <a:t> : Ventes </a:t>
            </a:r>
            <a:r>
              <a:rPr lang="en-US" dirty="0" err="1"/>
              <a:t>d’Automobiles</a:t>
            </a:r>
            <a:r>
              <a:rPr lang="en-US" dirty="0"/>
              <a:t> , pieces </a:t>
            </a:r>
            <a:r>
              <a:rPr lang="en-US" dirty="0" err="1"/>
              <a:t>détachées</a:t>
            </a:r>
            <a:r>
              <a:rPr lang="en-US" dirty="0"/>
              <a:t> , et </a:t>
            </a:r>
            <a:r>
              <a:rPr lang="en-US" dirty="0" err="1"/>
              <a:t>Accompagnments</a:t>
            </a:r>
            <a:r>
              <a:rPr lang="en-US" dirty="0"/>
              <a:t> (Immigration)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363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Présentation</a:t>
            </a:r>
            <a:r>
              <a:rPr dirty="0"/>
              <a:t> </a:t>
            </a:r>
            <a:r>
              <a:rPr dirty="0" err="1"/>
              <a:t>d'Odzuna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Odzuna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entreprise</a:t>
            </a:r>
            <a:r>
              <a:rPr dirty="0"/>
              <a:t> multiservice </a:t>
            </a:r>
            <a:r>
              <a:rPr dirty="0" err="1"/>
              <a:t>composée</a:t>
            </a:r>
            <a:r>
              <a:rPr dirty="0"/>
              <a:t> de deux branches :</a:t>
            </a:r>
          </a:p>
          <a:p>
            <a:r>
              <a:rPr dirty="0"/>
              <a:t>- </a:t>
            </a:r>
            <a:r>
              <a:rPr dirty="0" err="1"/>
              <a:t>Odzuna</a:t>
            </a:r>
            <a:r>
              <a:rPr dirty="0"/>
              <a:t> Services : Vente </a:t>
            </a:r>
            <a:r>
              <a:rPr dirty="0" err="1"/>
              <a:t>d'automobiles</a:t>
            </a:r>
            <a:r>
              <a:rPr dirty="0"/>
              <a:t>, </a:t>
            </a:r>
            <a:r>
              <a:rPr dirty="0" err="1"/>
              <a:t>pièces</a:t>
            </a:r>
            <a:r>
              <a:rPr dirty="0"/>
              <a:t> </a:t>
            </a:r>
            <a:r>
              <a:rPr dirty="0" err="1"/>
              <a:t>détachées</a:t>
            </a:r>
            <a:r>
              <a:rPr dirty="0"/>
              <a:t>, </a:t>
            </a:r>
            <a:r>
              <a:rPr dirty="0" err="1"/>
              <a:t>accompagnement</a:t>
            </a:r>
            <a:r>
              <a:rPr dirty="0"/>
              <a:t> au </a:t>
            </a:r>
            <a:r>
              <a:rPr dirty="0" err="1"/>
              <a:t>permis</a:t>
            </a:r>
            <a:r>
              <a:rPr dirty="0"/>
              <a:t>, aide à </a:t>
            </a:r>
            <a:r>
              <a:rPr dirty="0" err="1"/>
              <a:t>l'emploi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Odzuna</a:t>
            </a:r>
            <a:r>
              <a:rPr dirty="0"/>
              <a:t> Travel : Immigration, voyages (Canada, Schengen, USA), </a:t>
            </a:r>
            <a:r>
              <a:rPr dirty="0" err="1"/>
              <a:t>loterie</a:t>
            </a:r>
            <a:r>
              <a:rPr dirty="0"/>
              <a:t> visa américaine.</a:t>
            </a:r>
          </a:p>
        </p:txBody>
      </p:sp>
    </p:spTree>
    <p:extLst>
      <p:ext uri="{BB962C8B-B14F-4D97-AF65-F5344CB8AC3E}">
        <p14:creationId xmlns:p14="http://schemas.microsoft.com/office/powerpoint/2010/main" val="152528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</a:t>
            </a:r>
            <a:r>
              <a:rPr dirty="0" err="1"/>
              <a:t>Objectifs</a:t>
            </a:r>
            <a:r>
              <a:rPr dirty="0"/>
              <a:t> du </a:t>
            </a:r>
            <a:r>
              <a:rPr dirty="0" err="1"/>
              <a:t>projet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Créer un site vitrine professionnel, clair et attractif.</a:t>
            </a:r>
          </a:p>
          <a:p>
            <a:r>
              <a:t>Regrouper les deux branches sous une interface cohérente.</a:t>
            </a:r>
          </a:p>
          <a:p>
            <a:r>
              <a:t>Offrir une vitrine claire des services et faciliter les prises de contact.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Analyse du marché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Marché en pleine expansion dans les domaines de la mobilité, du voyage et de l'immigration.</a:t>
            </a:r>
          </a:p>
          <a:p>
            <a:r>
              <a:t>Public cible : jeunes diplômés, familles, professionnels en quête d'opportunités à l'international.</a:t>
            </a:r>
          </a:p>
          <a:p>
            <a:r>
              <a:t>Concurrence : agences locales et en ligne avec faible différenciation.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Stratégie de développement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Site responsive, </a:t>
            </a:r>
            <a:r>
              <a:rPr dirty="0" err="1"/>
              <a:t>rapide</a:t>
            </a:r>
            <a:r>
              <a:rPr dirty="0"/>
              <a:t>, </a:t>
            </a:r>
            <a:r>
              <a:rPr dirty="0" err="1"/>
              <a:t>sécurisé</a:t>
            </a:r>
            <a:r>
              <a:rPr dirty="0"/>
              <a:t>.</a:t>
            </a:r>
          </a:p>
          <a:p>
            <a:r>
              <a:rPr dirty="0" err="1"/>
              <a:t>Utilisation</a:t>
            </a:r>
            <a:r>
              <a:rPr dirty="0"/>
              <a:t> des deux logos avec un switch </a:t>
            </a:r>
            <a:r>
              <a:rPr dirty="0" err="1"/>
              <a:t>visuel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un menu </a:t>
            </a:r>
            <a:r>
              <a:rPr dirty="0" err="1"/>
              <a:t>dédié</a:t>
            </a:r>
            <a:r>
              <a:rPr dirty="0"/>
              <a:t> par </a:t>
            </a:r>
            <a:r>
              <a:rPr dirty="0" err="1"/>
              <a:t>branche</a:t>
            </a:r>
            <a:r>
              <a:rPr dirty="0"/>
              <a:t>.</a:t>
            </a:r>
          </a:p>
          <a:p>
            <a:r>
              <a:rPr dirty="0"/>
              <a:t>SEO, réseaux </a:t>
            </a:r>
            <a:r>
              <a:rPr dirty="0" err="1"/>
              <a:t>sociaux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Structure du site vitrine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Accueil</a:t>
            </a:r>
            <a:r>
              <a:rPr dirty="0"/>
              <a:t> (</a:t>
            </a:r>
            <a:r>
              <a:rPr dirty="0" err="1"/>
              <a:t>présentation</a:t>
            </a:r>
            <a:r>
              <a:rPr dirty="0"/>
              <a:t> de la marque et des branches)</a:t>
            </a:r>
          </a:p>
          <a:p>
            <a:r>
              <a:rPr dirty="0"/>
              <a:t>- </a:t>
            </a:r>
            <a:r>
              <a:rPr dirty="0" err="1"/>
              <a:t>Odzuna</a:t>
            </a:r>
            <a:r>
              <a:rPr dirty="0"/>
              <a:t> Services (</a:t>
            </a:r>
            <a:r>
              <a:rPr lang="en-US" dirty="0"/>
              <a:t>ventes de voitures , automobiles </a:t>
            </a:r>
            <a:r>
              <a:rPr dirty="0"/>
              <a:t>, </a:t>
            </a:r>
            <a:r>
              <a:rPr lang="en-US" dirty="0"/>
              <a:t>auto-école</a:t>
            </a:r>
            <a:r>
              <a:rPr dirty="0"/>
              <a:t>)</a:t>
            </a:r>
          </a:p>
          <a:p>
            <a:r>
              <a:rPr dirty="0"/>
              <a:t>- </a:t>
            </a:r>
            <a:r>
              <a:rPr dirty="0" err="1"/>
              <a:t>Odzuna</a:t>
            </a:r>
            <a:r>
              <a:rPr dirty="0"/>
              <a:t> Travel (immigration, visa, </a:t>
            </a:r>
            <a:r>
              <a:rPr dirty="0" err="1"/>
              <a:t>loterie</a:t>
            </a:r>
            <a:r>
              <a:rPr dirty="0"/>
              <a:t>)</a:t>
            </a:r>
          </a:p>
          <a:p>
            <a:r>
              <a:rPr dirty="0"/>
              <a:t>- Contact (</a:t>
            </a:r>
            <a:r>
              <a:rPr dirty="0" err="1"/>
              <a:t>formulaire</a:t>
            </a:r>
            <a:r>
              <a:rPr dirty="0"/>
              <a:t>, carte, réseaux </a:t>
            </a:r>
            <a:r>
              <a:rPr dirty="0" err="1"/>
              <a:t>sociaux</a:t>
            </a:r>
            <a:r>
              <a:rPr dirty="0"/>
              <a:t>)</a:t>
            </a:r>
          </a:p>
          <a:p>
            <a:r>
              <a:rPr dirty="0"/>
              <a:t>- À </a:t>
            </a:r>
            <a:r>
              <a:rPr dirty="0" err="1"/>
              <a:t>propos</a:t>
            </a:r>
            <a:r>
              <a:rPr dirty="0"/>
              <a:t> (</a:t>
            </a:r>
            <a:r>
              <a:rPr dirty="0" err="1"/>
              <a:t>histoire</a:t>
            </a:r>
            <a:r>
              <a:rPr dirty="0"/>
              <a:t>, équipe, vision)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6. Aspects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Technologies </a:t>
            </a:r>
            <a:r>
              <a:rPr dirty="0" err="1"/>
              <a:t>proposées</a:t>
            </a:r>
            <a:r>
              <a:rPr dirty="0"/>
              <a:t> : WordPress </a:t>
            </a:r>
            <a:r>
              <a:rPr dirty="0" err="1"/>
              <a:t>ou</a:t>
            </a:r>
            <a:r>
              <a:rPr dirty="0"/>
              <a:t> site </a:t>
            </a:r>
            <a:r>
              <a:rPr dirty="0" err="1"/>
              <a:t>personnalisé</a:t>
            </a:r>
            <a:r>
              <a:rPr dirty="0"/>
              <a:t> (Django).</a:t>
            </a:r>
          </a:p>
          <a:p>
            <a:r>
              <a:rPr dirty="0" err="1"/>
              <a:t>Hébergement</a:t>
            </a:r>
            <a:r>
              <a:rPr dirty="0"/>
              <a:t> : VPS (Contabo</a:t>
            </a:r>
            <a:r>
              <a:rPr lang="en-US" dirty="0"/>
              <a:t>)</a:t>
            </a:r>
            <a:r>
              <a:rPr dirty="0"/>
              <a:t>.</a:t>
            </a:r>
          </a:p>
          <a:p>
            <a:r>
              <a:rPr dirty="0"/>
              <a:t>Interfaces de gestion : </a:t>
            </a:r>
            <a:r>
              <a:rPr dirty="0" err="1"/>
              <a:t>ISPConfig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aaPanel</a:t>
            </a:r>
            <a:r>
              <a:rPr dirty="0"/>
              <a:t> </a:t>
            </a:r>
            <a:r>
              <a:rPr dirty="0" err="1"/>
              <a:t>selon</a:t>
            </a:r>
            <a:r>
              <a:rPr dirty="0"/>
              <a:t> </a:t>
            </a:r>
            <a:r>
              <a:rPr dirty="0" err="1"/>
              <a:t>besoin</a:t>
            </a:r>
            <a:r>
              <a:rPr dirty="0"/>
              <a:t>.</a:t>
            </a:r>
          </a:p>
          <a:p>
            <a:r>
              <a:rPr dirty="0" err="1"/>
              <a:t>Référencement</a:t>
            </a:r>
            <a:r>
              <a:rPr dirty="0"/>
              <a:t> SEO, nom de </a:t>
            </a:r>
            <a:r>
              <a:rPr dirty="0" err="1"/>
              <a:t>domaine</a:t>
            </a:r>
            <a:r>
              <a:rPr dirty="0"/>
              <a:t> </a:t>
            </a:r>
            <a:r>
              <a:rPr dirty="0" err="1"/>
              <a:t>personnalisé</a:t>
            </a:r>
            <a:r>
              <a:rPr dirty="0"/>
              <a:t>, email pro.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Design et branding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Couleurs inspirées des deux logos.</a:t>
            </a:r>
          </a:p>
          <a:p>
            <a:r>
              <a:t>Uniformité dans la typographie et les icônes.</a:t>
            </a:r>
          </a:p>
          <a:p>
            <a:r>
              <a:t>Intégration fluide des deux identités visuelles (Services &amp; Travel).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Coût estimatif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9096282" cy="3777622"/>
          </a:xfrm>
        </p:spPr>
        <p:txBody>
          <a:bodyPr/>
          <a:lstStyle/>
          <a:p>
            <a:r>
              <a:rPr dirty="0"/>
              <a:t>- Conception site vitrine : </a:t>
            </a:r>
            <a:r>
              <a:rPr lang="en-US" dirty="0"/>
              <a:t>150 000 FCFA</a:t>
            </a:r>
            <a:r>
              <a:rPr dirty="0"/>
              <a:t>.</a:t>
            </a:r>
          </a:p>
          <a:p>
            <a:r>
              <a:rPr dirty="0"/>
              <a:t>- Nom de </a:t>
            </a:r>
            <a:r>
              <a:rPr dirty="0" err="1"/>
              <a:t>domaine</a:t>
            </a:r>
            <a:r>
              <a:rPr lang="en-US" dirty="0"/>
              <a:t>(</a:t>
            </a:r>
            <a:r>
              <a:rPr lang="en-US" b="1" i="1" dirty="0"/>
              <a:t>odzuna.com</a:t>
            </a:r>
            <a:r>
              <a:rPr lang="en-US" dirty="0"/>
              <a:t>)</a:t>
            </a:r>
            <a:r>
              <a:rPr b="1" i="1" dirty="0"/>
              <a:t> </a:t>
            </a:r>
            <a:r>
              <a:rPr dirty="0"/>
              <a:t>+ </a:t>
            </a:r>
            <a:r>
              <a:rPr dirty="0" err="1"/>
              <a:t>hébergement</a:t>
            </a:r>
            <a:r>
              <a:rPr dirty="0"/>
              <a:t> : </a:t>
            </a:r>
            <a:r>
              <a:rPr lang="en-US" dirty="0"/>
              <a:t>30 000 FCFA </a:t>
            </a:r>
            <a:r>
              <a:rPr dirty="0"/>
              <a:t>/an environ.</a:t>
            </a:r>
          </a:p>
          <a:p>
            <a:r>
              <a:rPr dirty="0"/>
              <a:t>- Maintenance et mises à jour : </a:t>
            </a:r>
            <a:r>
              <a:rPr lang="en-US" dirty="0"/>
              <a:t>50 000 FCFA </a:t>
            </a:r>
            <a:r>
              <a:rPr dirty="0"/>
              <a:t>/an.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Délai de réalisation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Phase 1 : Conception et maquettes – 1 </a:t>
            </a:r>
            <a:r>
              <a:rPr dirty="0" err="1"/>
              <a:t>semaine</a:t>
            </a:r>
            <a:endParaRPr dirty="0"/>
          </a:p>
          <a:p>
            <a:r>
              <a:rPr dirty="0"/>
              <a:t>Phase 2 : </a:t>
            </a:r>
            <a:r>
              <a:rPr dirty="0" err="1"/>
              <a:t>Développement</a:t>
            </a:r>
            <a:r>
              <a:rPr dirty="0"/>
              <a:t> et </a:t>
            </a:r>
            <a:r>
              <a:rPr dirty="0" err="1"/>
              <a:t>intégration</a:t>
            </a:r>
            <a:r>
              <a:rPr dirty="0"/>
              <a:t> – 2 à 3 </a:t>
            </a:r>
            <a:r>
              <a:rPr dirty="0" err="1"/>
              <a:t>semaines</a:t>
            </a:r>
            <a:endParaRPr dirty="0"/>
          </a:p>
          <a:p>
            <a:r>
              <a:rPr dirty="0"/>
              <a:t>Phase 3 : Tests et mise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– 1 </a:t>
            </a:r>
            <a:r>
              <a:rPr dirty="0" err="1"/>
              <a:t>semaine</a:t>
            </a:r>
            <a:endParaRPr dirty="0"/>
          </a:p>
          <a:p>
            <a:r>
              <a:rPr dirty="0"/>
              <a:t>Total </a:t>
            </a:r>
            <a:r>
              <a:rPr dirty="0" err="1"/>
              <a:t>estimé</a:t>
            </a:r>
            <a:r>
              <a:rPr dirty="0"/>
              <a:t> : 1 </a:t>
            </a:r>
            <a:r>
              <a:rPr dirty="0" err="1"/>
              <a:t>mois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Odzuna a l'opportunité de se positionner comme un acteur clé dans deux secteurs porteurs.</a:t>
            </a:r>
          </a:p>
          <a:p>
            <a:r>
              <a:t>Un site web professionnel et bien structuré sera la pierre angulaire de sa stratégie numérique.</a:t>
            </a:r>
          </a:p>
          <a:p>
            <a:r>
              <a:t>Nous vous accompagnons de A à Z dans cette transformation.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10">
            <a:extLst>
              <a:ext uri="{FF2B5EF4-FFF2-40B4-BE49-F238E27FC236}">
                <a16:creationId xmlns:a16="http://schemas.microsoft.com/office/drawing/2014/main" id="{B574F576-006C-F65F-E85F-6CA5CE46AA1B}"/>
              </a:ext>
            </a:extLst>
          </p:cNvPr>
          <p:cNvGrpSpPr/>
          <p:nvPr/>
        </p:nvGrpSpPr>
        <p:grpSpPr>
          <a:xfrm>
            <a:off x="4302846" y="2042666"/>
            <a:ext cx="3541486" cy="3769865"/>
            <a:chOff x="4325258" y="1229517"/>
            <a:chExt cx="3541486" cy="3769865"/>
          </a:xfrm>
        </p:grpSpPr>
        <p:sp>
          <p:nvSpPr>
            <p:cNvPr id="7" name="Losange 11">
              <a:extLst>
                <a:ext uri="{FF2B5EF4-FFF2-40B4-BE49-F238E27FC236}">
                  <a16:creationId xmlns:a16="http://schemas.microsoft.com/office/drawing/2014/main" id="{6CCFEC58-7E29-A998-DB85-890804D4DF8D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8" name="Losange 12">
              <a:extLst>
                <a:ext uri="{FF2B5EF4-FFF2-40B4-BE49-F238E27FC236}">
                  <a16:creationId xmlns:a16="http://schemas.microsoft.com/office/drawing/2014/main" id="{A5A415D4-06C9-DAA5-E76D-6CDCD9FAC7EA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4FC517A-3587-DDC6-1118-06F97BEFFE1E}"/>
              </a:ext>
            </a:extLst>
          </p:cNvPr>
          <p:cNvSpPr txBox="1">
            <a:spLocks/>
          </p:cNvSpPr>
          <p:nvPr/>
        </p:nvSpPr>
        <p:spPr>
          <a:xfrm>
            <a:off x="2224833" y="3796556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>
                <a:solidFill>
                  <a:schemeClr val="accent4">
                    <a:lumMod val="60000"/>
                    <a:lumOff val="40000"/>
                  </a:schemeClr>
                </a:solidFill>
              </a:rPr>
              <a:t>							Merci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 descr="A logo for a car service&#10;&#10;AI-generated content may be incorrect.">
            <a:extLst>
              <a:ext uri="{FF2B5EF4-FFF2-40B4-BE49-F238E27FC236}">
                <a16:creationId xmlns:a16="http://schemas.microsoft.com/office/drawing/2014/main" id="{D4D21EC0-0A1A-C113-F3A3-3CC7FA8D0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355" y="4290079"/>
            <a:ext cx="3851881" cy="2567921"/>
          </a:xfrm>
          <a:prstGeom prst="rect">
            <a:avLst/>
          </a:prstGeom>
        </p:spPr>
      </p:pic>
      <p:pic>
        <p:nvPicPr>
          <p:cNvPr id="13" name="Picture 12" descr="A logo with a plane flying around the globe&#10;&#10;AI-generated content may be incorrect.">
            <a:extLst>
              <a:ext uri="{FF2B5EF4-FFF2-40B4-BE49-F238E27FC236}">
                <a16:creationId xmlns:a16="http://schemas.microsoft.com/office/drawing/2014/main" id="{EBA06D06-8E14-C190-9E5F-6995480FB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908" y="330398"/>
            <a:ext cx="2589213" cy="258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3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arrow.wav"/>
          </p:stSnd>
        </p:sndAc>
      </p:transition>
    </mc:Choice>
    <mc:Fallback xmlns="">
      <p:transition spd="slow">
        <p:blinds dir="vert"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6">
            <a:extLst>
              <a:ext uri="{FF2B5EF4-FFF2-40B4-BE49-F238E27FC236}">
                <a16:creationId xmlns:a16="http://schemas.microsoft.com/office/drawing/2014/main" id="{A193C00E-ABED-3E86-3C54-A2B175FE08E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525" y="2937647"/>
            <a:ext cx="4552950" cy="3521823"/>
          </a:xfrm>
          <a:prstGeom prst="rect">
            <a:avLst/>
          </a:prstGeom>
        </p:spPr>
      </p:pic>
      <p:grpSp>
        <p:nvGrpSpPr>
          <p:cNvPr id="3" name="Groupe 17">
            <a:extLst>
              <a:ext uri="{FF2B5EF4-FFF2-40B4-BE49-F238E27FC236}">
                <a16:creationId xmlns:a16="http://schemas.microsoft.com/office/drawing/2014/main" id="{CE1441F1-AC4A-A254-CB84-AD36DBC45EB6}"/>
              </a:ext>
            </a:extLst>
          </p:cNvPr>
          <p:cNvGrpSpPr/>
          <p:nvPr/>
        </p:nvGrpSpPr>
        <p:grpSpPr>
          <a:xfrm>
            <a:off x="5823600" y="2292342"/>
            <a:ext cx="2315680" cy="2273315"/>
            <a:chOff x="4523270" y="548680"/>
            <a:chExt cx="1974830" cy="2026169"/>
          </a:xfrm>
        </p:grpSpPr>
        <p:pic>
          <p:nvPicPr>
            <p:cNvPr id="4" name="Image 18">
              <a:extLst>
                <a:ext uri="{FF2B5EF4-FFF2-40B4-BE49-F238E27FC236}">
                  <a16:creationId xmlns:a16="http://schemas.microsoft.com/office/drawing/2014/main" id="{39FF28FC-C9FA-0B58-F01D-74CDA60D2F1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3270" y="548680"/>
              <a:ext cx="1974830" cy="2026169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ZoneTexte 19">
              <a:extLst>
                <a:ext uri="{FF2B5EF4-FFF2-40B4-BE49-F238E27FC236}">
                  <a16:creationId xmlns:a16="http://schemas.microsoft.com/office/drawing/2014/main" id="{BDF25F51-0656-7088-6C86-047DE55D6C3D}"/>
                </a:ext>
              </a:extLst>
            </p:cNvPr>
            <p:cNvSpPr txBox="1"/>
            <p:nvPr/>
          </p:nvSpPr>
          <p:spPr>
            <a:xfrm>
              <a:off x="5269272" y="1015971"/>
              <a:ext cx="482824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5400" b="1" dirty="0"/>
                <a:t>?</a:t>
              </a:r>
              <a:endParaRPr lang="fr-FR" sz="5400" b="1" dirty="0"/>
            </a:p>
          </p:txBody>
        </p:sp>
      </p:grpSp>
      <p:pic>
        <p:nvPicPr>
          <p:cNvPr id="10" name="Picture 9" descr="A logo with a plane flying around the globe&#10;&#10;AI-generated content may be incorrect.">
            <a:extLst>
              <a:ext uri="{FF2B5EF4-FFF2-40B4-BE49-F238E27FC236}">
                <a16:creationId xmlns:a16="http://schemas.microsoft.com/office/drawing/2014/main" id="{8EA4912A-E313-D1BB-1559-06A0F8E98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905" y="374837"/>
            <a:ext cx="2589213" cy="2589213"/>
          </a:xfrm>
          <a:prstGeom prst="rect">
            <a:avLst/>
          </a:prstGeom>
        </p:spPr>
      </p:pic>
      <p:pic>
        <p:nvPicPr>
          <p:cNvPr id="13" name="Picture 12" descr="A logo for a car service&#10;&#10;AI-generated content may be incorrect.">
            <a:extLst>
              <a:ext uri="{FF2B5EF4-FFF2-40B4-BE49-F238E27FC236}">
                <a16:creationId xmlns:a16="http://schemas.microsoft.com/office/drawing/2014/main" id="{78DC0CC0-FA51-C8BF-E356-B5F1B2F40B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8068" y="4290079"/>
            <a:ext cx="3851881" cy="256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96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  <p:sndAc>
          <p:stSnd>
            <p:snd r:embed="rId4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78</TotalTime>
  <Words>511</Words>
  <Application>Microsoft Office PowerPoint</Application>
  <PresentationFormat>Widescreen</PresentationFormat>
  <Paragraphs>70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Century Gothic</vt:lpstr>
      <vt:lpstr>Wingdings 3</vt:lpstr>
      <vt:lpstr>Wisp</vt:lpstr>
      <vt:lpstr>Plan d'affaires - Odzuna</vt:lpstr>
      <vt:lpstr>Plan de présentation</vt:lpstr>
      <vt:lpstr>Résumé exécutif</vt:lpstr>
      <vt:lpstr>1. Présentation d'Odzuna</vt:lpstr>
      <vt:lpstr>2. Objectifs du projet</vt:lpstr>
      <vt:lpstr>3. Analyse du marché</vt:lpstr>
      <vt:lpstr>4. Stratégie de développement</vt:lpstr>
      <vt:lpstr>5. Structure du site vitrine</vt:lpstr>
      <vt:lpstr>6. Aspects techniques</vt:lpstr>
      <vt:lpstr>7. Design et branding</vt:lpstr>
      <vt:lpstr>8. Coût estimatif</vt:lpstr>
      <vt:lpstr>9. Délai de réalisation</vt:lpstr>
      <vt:lpstr>10. Conclusion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Kofi Gédéon Godway HOUNKPATI</cp:lastModifiedBy>
  <cp:revision>6</cp:revision>
  <dcterms:created xsi:type="dcterms:W3CDTF">2013-01-27T09:14:16Z</dcterms:created>
  <dcterms:modified xsi:type="dcterms:W3CDTF">2025-06-03T13:37:46Z</dcterms:modified>
  <cp:category/>
</cp:coreProperties>
</file>